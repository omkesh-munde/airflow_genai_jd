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1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6B6D4"/>
                </a:solidFill>
                <a:latin typeface="Segoe UI"/>
              </a:rPr>
              <a:t>APACHE AIRFLOW  ·  GEN-AI AGENTS  ·  RAG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200" b="1" i="0">
                <a:solidFill>
                  <a:srgbClr val="E7ECF3"/>
                </a:solidFill>
                <a:latin typeface="Segoe UI"/>
              </a:rPr>
              <a:t>Airflow Log AI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 i="0">
                <a:solidFill>
                  <a:srgbClr val="9AAAC0"/>
                </a:solidFill>
                <a:latin typeface="Segoe UI"/>
              </a:rPr>
              <a:t>Autonomous, RAG-powered root-cause analysis for Apache Airflow pipeline failures.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34840"/>
            <a:ext cx="923544" cy="420624"/>
          </a:xfrm>
          <a:prstGeom prst="roundRect">
            <a:avLst>
              <a:gd name="adj" fmla="val 50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92354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E7ECF3"/>
                </a:solidFill>
                <a:latin typeface="Segoe UI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1096" y="4434840"/>
            <a:ext cx="1239012" cy="420624"/>
          </a:xfrm>
          <a:prstGeom prst="roundRect">
            <a:avLst>
              <a:gd name="adj" fmla="val 50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11096" y="4434840"/>
            <a:ext cx="12390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E7ECF3"/>
                </a:solidFill>
                <a:latin typeface="Segoe UI"/>
              </a:rPr>
              <a:t>LangChain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4700" y="4434840"/>
            <a:ext cx="1975104" cy="420624"/>
          </a:xfrm>
          <a:prstGeom prst="roundRect">
            <a:avLst>
              <a:gd name="adj" fmla="val 50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4700" y="4434840"/>
            <a:ext cx="197510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E7ECF3"/>
                </a:solidFill>
                <a:latin typeface="Segoe UI"/>
              </a:rPr>
              <a:t>Chroma Vector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54396" y="4434840"/>
            <a:ext cx="923544" cy="420624"/>
          </a:xfrm>
          <a:prstGeom prst="roundRect">
            <a:avLst>
              <a:gd name="adj" fmla="val 50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4396" y="4434840"/>
            <a:ext cx="92354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E7ECF3"/>
                </a:solidFill>
                <a:latin typeface="Segoe UI"/>
              </a:rPr>
              <a:t>SQLite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42532" y="4434840"/>
            <a:ext cx="818388" cy="420624"/>
          </a:xfrm>
          <a:prstGeom prst="roundRect">
            <a:avLst>
              <a:gd name="adj" fmla="val 50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2532" y="4434840"/>
            <a:ext cx="8183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E7ECF3"/>
                </a:solidFill>
                <a:latin typeface="Segoe UI"/>
              </a:rPr>
              <a:t>Flask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434840"/>
            <a:ext cx="1869948" cy="420624"/>
          </a:xfrm>
          <a:prstGeom prst="roundRect">
            <a:avLst>
              <a:gd name="adj" fmla="val 50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4434840"/>
            <a:ext cx="18699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E7ECF3"/>
                </a:solidFill>
                <a:latin typeface="Segoe UI"/>
              </a:rPr>
              <a:t>OpenAI / 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1">
                <a:solidFill>
                  <a:srgbClr val="06B6D4"/>
                </a:solidFill>
                <a:latin typeface="Segoe UI"/>
              </a:rPr>
              <a:t>Watches logs → classifies 15 error types → routes to specialist agents → remembers every fix.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1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Segoe U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132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E7ECF3"/>
                </a:solidFill>
                <a:latin typeface="Segoe UI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481328"/>
            <a:ext cx="1280160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550" b="1" i="0">
                <a:solidFill>
                  <a:srgbClr val="06B6D4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E7ECF3"/>
                </a:solidFill>
                <a:latin typeface="Segoe UI"/>
              </a:rPr>
              <a:t>Failures are diverse — </a:t>
            </a:r>
            <a:r>
              <a:rPr sz="1550" b="0" i="0">
                <a:solidFill>
                  <a:srgbClr val="9AAAC0"/>
                </a:solidFill>
                <a:latin typeface="Segoe UI"/>
              </a:rPr>
              <a:t>15+ distinct Airflow error modes (DAG imports, timeouts, scheduler, connections, XCom, OOM, Celery, K8s pods…).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550" b="1" i="0">
                <a:solidFill>
                  <a:srgbClr val="06B6D4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E7ECF3"/>
                </a:solidFill>
                <a:latin typeface="Segoe UI"/>
              </a:rPr>
              <a:t>Logs are noisy — </a:t>
            </a:r>
            <a:r>
              <a:rPr sz="1550" b="0" i="0">
                <a:solidFill>
                  <a:srgbClr val="9AAAC0"/>
                </a:solidFill>
                <a:latin typeface="Segoe UI"/>
              </a:rPr>
              <a:t>long, scattered across scheduler, workers and tasks; engineers manually grep to find the real error.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550" b="1" i="0">
                <a:solidFill>
                  <a:srgbClr val="06B6D4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E7ECF3"/>
                </a:solidFill>
                <a:latin typeface="Segoe UI"/>
              </a:rPr>
              <a:t>Triage is slow &amp; reactive — </a:t>
            </a:r>
            <a:r>
              <a:rPr sz="1550" b="0" i="0">
                <a:solidFill>
                  <a:srgbClr val="9AAAC0"/>
                </a:solidFill>
                <a:latin typeface="Segoe UI"/>
              </a:rPr>
              <a:t>diagnosis happens only after a pipeline breaks, often at 2 a.m.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550" b="1" i="0">
                <a:solidFill>
                  <a:srgbClr val="06B6D4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E7ECF3"/>
                </a:solidFill>
                <a:latin typeface="Segoe UI"/>
              </a:rPr>
              <a:t>Expertise bottleneck — </a:t>
            </a:r>
            <a:r>
              <a:rPr sz="1550" b="0" i="0">
                <a:solidFill>
                  <a:srgbClr val="9AAAC0"/>
                </a:solidFill>
                <a:latin typeface="Segoe UI"/>
              </a:rPr>
              <a:t>root-cause analysis depends on a few senior engineers.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550" b="1" i="0">
                <a:solidFill>
                  <a:srgbClr val="06B6D4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E7ECF3"/>
                </a:solidFill>
                <a:latin typeface="Segoe UI"/>
              </a:rPr>
              <a:t>No memory — </a:t>
            </a:r>
            <a:r>
              <a:rPr sz="1550" b="0" i="0">
                <a:solidFill>
                  <a:srgbClr val="9AAAC0"/>
                </a:solidFill>
                <a:latin typeface="Segoe UI"/>
              </a:rPr>
              <a:t>the same errors are re-investigated from scratch; lessons learned are lost.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828800"/>
            <a:ext cx="3886200" cy="4114800"/>
          </a:xfrm>
          <a:prstGeom prst="roundRect">
            <a:avLst>
              <a:gd name="adj" fmla="val 5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7ECF3"/>
                </a:solidFill>
                <a:latin typeface="Segoe UI"/>
              </a:rPr>
              <a:t>The cost of manual log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0604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F59E0B"/>
                </a:solidFill>
                <a:latin typeface="Segoe UI"/>
              </a:rPr>
              <a:t>15+   </a:t>
            </a:r>
            <a:r>
              <a:rPr sz="1250" b="0" i="0">
                <a:solidFill>
                  <a:srgbClr val="9AAAC0"/>
                </a:solidFill>
                <a:latin typeface="Segoe UI"/>
              </a:rPr>
              <a:t>error categories to recognise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42900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EF4444"/>
                </a:solidFill>
                <a:latin typeface="Segoe UI"/>
              </a:rPr>
              <a:t>High   </a:t>
            </a:r>
            <a:r>
              <a:rPr sz="1250" b="0" i="0">
                <a:solidFill>
                  <a:srgbClr val="9AAAC0"/>
                </a:solidFill>
                <a:latin typeface="Segoe UI"/>
              </a:rPr>
              <a:t>mean-time-to-resolution (MTTR)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25196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Segoe UI"/>
              </a:rPr>
              <a:t>0   </a:t>
            </a:r>
            <a:r>
              <a:rPr sz="1250" b="0" i="0">
                <a:solidFill>
                  <a:srgbClr val="9AAAC0"/>
                </a:solidFill>
                <a:latin typeface="Segoe UI"/>
              </a:rPr>
              <a:t>institutional memory of past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07492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06B6D4"/>
                </a:solidFill>
                <a:latin typeface="Segoe UI"/>
              </a:rPr>
              <a:t>24/7   </a:t>
            </a:r>
            <a:r>
              <a:rPr sz="1250" b="0" i="0">
                <a:solidFill>
                  <a:srgbClr val="9AAAC0"/>
                </a:solidFill>
                <a:latin typeface="Segoe UI"/>
              </a:rPr>
              <a:t>uptime expected, but humans aren't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9AAAC0"/>
                </a:solidFill>
                <a:latin typeface="Segoe UI"/>
              </a:rPr>
              <a:t>Airflow Log AI Analyzer  ·  Generic LLM +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9AAAC0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1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WHY TODAY'S APPROACH FALLS SHORT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132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E7ECF3"/>
                </a:solidFill>
                <a:latin typeface="Segoe UI"/>
              </a:rPr>
              <a:t>Current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481328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09728" cy="18745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956816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F59E0B"/>
                </a:solidFill>
                <a:latin typeface="Segoe UI"/>
              </a:rPr>
              <a:t>✕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Reactive, not proactive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95728"/>
            <a:ext cx="304495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issues surface only after pipelines fail.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109728" cy="18745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956816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F59E0B"/>
                </a:solidFill>
                <a:latin typeface="Segoe UI"/>
              </a:rPr>
              <a:t>✕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Human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395728"/>
            <a:ext cx="304495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depends on the availability &amp; skill of on-call staff.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109728" cy="18745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956816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F59E0B"/>
                </a:solidFill>
                <a:latin typeface="Segoe UI"/>
              </a:rPr>
              <a:t>✕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Inconsistent diagnoses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395728"/>
            <a:ext cx="304495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quality varies by person, fatigue and time of day.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77639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77639"/>
            <a:ext cx="109728" cy="18745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105655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F59E0B"/>
                </a:solidFill>
                <a:latin typeface="Segoe UI"/>
              </a:rPr>
              <a:t>✕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No reuse of past fixes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544567"/>
            <a:ext cx="304495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zero shared memory across incidents.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977639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977639"/>
            <a:ext cx="109728" cy="18745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4105655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F59E0B"/>
                </a:solidFill>
                <a:latin typeface="Segoe UI"/>
              </a:rPr>
              <a:t>✕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Poor 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544567"/>
            <a:ext cx="304495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can't keep up with more DAGs and growing log volume.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977639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977639"/>
            <a:ext cx="109728" cy="18745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4105655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F59E0B"/>
                </a:solidFill>
                <a:latin typeface="Segoe UI"/>
              </a:rPr>
              <a:t>✕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Alerts ≠ answers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4544567"/>
            <a:ext cx="304495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generic log tools notify, but don't explain root cause or fix.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9AAAC0"/>
                </a:solidFill>
                <a:latin typeface="Segoe UI"/>
              </a:rPr>
              <a:t>Airflow Log AI Analyzer  ·  Generic LLM + 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9AAAC0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1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22C55E"/>
                </a:solidFill>
                <a:latin typeface="Segoe UI"/>
              </a:rPr>
              <a:t>AN AUTONOMOUS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132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E7ECF3"/>
                </a:solidFill>
                <a:latin typeface="Segoe UI"/>
              </a:rPr>
              <a:t>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481328"/>
            <a:ext cx="1280160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1">
                <a:solidFill>
                  <a:srgbClr val="06B6D4"/>
                </a:solidFill>
                <a:latin typeface="Consolas"/>
              </a:rPr>
              <a:t>extract → classify → route → retrieve → analyze → store → serve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109728" cy="1783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76856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3B82F6"/>
                </a:solidFill>
                <a:latin typeface="Segoe UI"/>
              </a:rPr>
              <a:t>👁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Watch &amp;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715768"/>
            <a:ext cx="304495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watchdog auto-detects new log files in real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148840"/>
            <a:ext cx="109728" cy="1783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276856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06B6D4"/>
                </a:solidFill>
                <a:latin typeface="Segoe UI"/>
              </a:rPr>
              <a:t>🏷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715768"/>
            <a:ext cx="304495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keyword engine maps each error to 15 Airflow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4884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48840"/>
            <a:ext cx="109728" cy="17830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276856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A78BFA"/>
                </a:solidFill>
                <a:latin typeface="Segoe UI"/>
              </a:rPr>
              <a:t>🧭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Route to specialists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715768"/>
            <a:ext cx="304495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Code / DB / Infra agents reason within their domain.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6052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160520"/>
            <a:ext cx="109728" cy="1783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88536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06B6D4"/>
                </a:solidFill>
                <a:latin typeface="Segoe UI"/>
              </a:rPr>
              <a:t>🧠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RAG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727448"/>
            <a:ext cx="304495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Chroma vector store recalls similar past incidents.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6052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160520"/>
            <a:ext cx="109728" cy="17830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4288536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C55E"/>
                </a:solidFill>
                <a:latin typeface="Segoe UI"/>
              </a:rPr>
              <a:t>⚙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Context-aware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4727448"/>
            <a:ext cx="304495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live pipeline config injected into every prompt.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16052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72131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160520"/>
            <a:ext cx="109728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4288536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F59E0B"/>
                </a:solidFill>
                <a:latin typeface="Segoe UI"/>
              </a:rPr>
              <a:t>📋  </a:t>
            </a:r>
            <a:r>
              <a:rPr sz="1450" b="1" i="0">
                <a:solidFill>
                  <a:srgbClr val="E7ECF3"/>
                </a:solidFill>
                <a:latin typeface="Segoe UI"/>
              </a:rPr>
              <a:t>Structured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4727448"/>
            <a:ext cx="304495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 i="0">
                <a:solidFill>
                  <a:srgbClr val="9AAAC0"/>
                </a:solidFill>
                <a:latin typeface="Segoe UI"/>
              </a:rPr>
              <a:t>root cause + concrete fix + severity, every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9AAAC0"/>
                </a:solidFill>
                <a:latin typeface="Segoe UI"/>
              </a:rPr>
              <a:t>Airflow Log AI Analyzer  ·  Generic LLM + 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9AAAC0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1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3B82F6"/>
                </a:solidFill>
                <a:latin typeface="Segoe UI"/>
              </a:rPr>
              <a:t>HOW DATA FLOWS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132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E7ECF3"/>
                </a:solidFill>
                <a:latin typeface="Segoe UI"/>
              </a:rPr>
              <a:t>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481328"/>
            <a:ext cx="12801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1290789" cy="1371600"/>
          </a:xfrm>
          <a:prstGeom prst="roundRect">
            <a:avLst>
              <a:gd name="adj" fmla="val 8000"/>
            </a:avLst>
          </a:prstGeom>
          <a:solidFill>
            <a:srgbClr val="172131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290789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03704"/>
            <a:ext cx="129078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3B82F6"/>
                </a:solidFill>
                <a:latin typeface="Segoe U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660904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7ECF3"/>
                </a:solidFill>
                <a:latin typeface="Segoe UI"/>
              </a:rPr>
              <a:t>Airflow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AAAC0"/>
                </a:solidFill>
                <a:latin typeface="Segoe UI"/>
              </a:rPr>
              <a:t>scheduled trigger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844001" y="2670048"/>
            <a:ext cx="100584" cy="146304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49157" y="2057400"/>
            <a:ext cx="1290789" cy="1371600"/>
          </a:xfrm>
          <a:prstGeom prst="roundRect">
            <a:avLst>
              <a:gd name="adj" fmla="val 8000"/>
            </a:avLst>
          </a:prstGeom>
          <a:solidFill>
            <a:srgbClr val="172131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49157" y="2057400"/>
            <a:ext cx="1290789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49157" y="2203704"/>
            <a:ext cx="129078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3B82F6"/>
                </a:solidFill>
                <a:latin typeface="Segoe U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5733" y="2660904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7ECF3"/>
                </a:solidFill>
                <a:latin typeface="Segoe UI"/>
              </a:rPr>
              <a:t>Log Watcher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5733" y="2990088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AAAC0"/>
                </a:solidFill>
                <a:latin typeface="Segoe UI"/>
              </a:rPr>
              <a:t>watchdog detects log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244518" y="2670048"/>
            <a:ext cx="100584" cy="146304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49674" y="2057400"/>
            <a:ext cx="1290789" cy="1371600"/>
          </a:xfrm>
          <a:prstGeom prst="roundRect">
            <a:avLst>
              <a:gd name="adj" fmla="val 8000"/>
            </a:avLst>
          </a:prstGeom>
          <a:solidFill>
            <a:srgbClr val="172131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9674" y="2057400"/>
            <a:ext cx="1290789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9674" y="2203704"/>
            <a:ext cx="129078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3B82F6"/>
                </a:solidFill>
                <a:latin typeface="Segoe UI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6250" y="2660904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7ECF3"/>
                </a:solidFill>
                <a:latin typeface="Segoe UI"/>
              </a:rPr>
              <a:t>Extract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6250" y="2990088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AAAC0"/>
                </a:solidFill>
                <a:latin typeface="Segoe UI"/>
              </a:rPr>
              <a:t>find error block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645035" y="2670048"/>
            <a:ext cx="100584" cy="146304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0191" y="2057400"/>
            <a:ext cx="1290789" cy="1371600"/>
          </a:xfrm>
          <a:prstGeom prst="roundRect">
            <a:avLst>
              <a:gd name="adj" fmla="val 8000"/>
            </a:avLst>
          </a:prstGeom>
          <a:solidFill>
            <a:srgbClr val="172131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0191" y="2057400"/>
            <a:ext cx="1290789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0191" y="2203704"/>
            <a:ext cx="129078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06B6D4"/>
                </a:solidFill>
                <a:latin typeface="Segoe UI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6767" y="2660904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7ECF3"/>
                </a:solidFill>
                <a:latin typeface="Segoe UI"/>
              </a:rPr>
              <a:t>Classify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6767" y="2990088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AAAC0"/>
                </a:solidFill>
                <a:latin typeface="Segoe UI"/>
              </a:rPr>
              <a:t>15 error types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045552" y="2670048"/>
            <a:ext cx="100584" cy="146304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50708" y="2057400"/>
            <a:ext cx="1290789" cy="1371600"/>
          </a:xfrm>
          <a:prstGeom prst="roundRect">
            <a:avLst>
              <a:gd name="adj" fmla="val 8000"/>
            </a:avLst>
          </a:prstGeom>
          <a:solidFill>
            <a:srgbClr val="172131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0708" y="2057400"/>
            <a:ext cx="1290789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0708" y="2203704"/>
            <a:ext cx="129078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A78BFA"/>
                </a:solidFill>
                <a:latin typeface="Segoe UI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7284" y="2660904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7ECF3"/>
                </a:solidFill>
                <a:latin typeface="Segoe UI"/>
              </a:rPr>
              <a:t>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7284" y="2990088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AAAC0"/>
                </a:solidFill>
                <a:latin typeface="Segoe UI"/>
              </a:rPr>
              <a:t>pick specialist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446069" y="2670048"/>
            <a:ext cx="100584" cy="146304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51225" y="2057400"/>
            <a:ext cx="1290789" cy="1371600"/>
          </a:xfrm>
          <a:prstGeom prst="roundRect">
            <a:avLst>
              <a:gd name="adj" fmla="val 8000"/>
            </a:avLst>
          </a:prstGeom>
          <a:solidFill>
            <a:srgbClr val="172131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51225" y="2057400"/>
            <a:ext cx="1290789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1225" y="2203704"/>
            <a:ext cx="129078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22C55E"/>
                </a:solidFill>
                <a:latin typeface="Segoe UI"/>
              </a:rPr>
              <a:t>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7801" y="2660904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7ECF3"/>
                </a:solidFill>
                <a:latin typeface="Segoe UI"/>
              </a:rPr>
              <a:t>Analyze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7801" y="2990088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AAAC0"/>
                </a:solidFill>
                <a:latin typeface="Segoe UI"/>
              </a:rPr>
              <a:t>LLM + RAG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846586" y="2670048"/>
            <a:ext cx="100584" cy="146304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51742" y="2057400"/>
            <a:ext cx="1290789" cy="1371600"/>
          </a:xfrm>
          <a:prstGeom prst="roundRect">
            <a:avLst>
              <a:gd name="adj" fmla="val 8000"/>
            </a:avLst>
          </a:prstGeom>
          <a:solidFill>
            <a:srgbClr val="172131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51742" y="2057400"/>
            <a:ext cx="1290789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51742" y="2203704"/>
            <a:ext cx="129078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88318" y="2660904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7ECF3"/>
                </a:solidFill>
                <a:latin typeface="Segoe UI"/>
              </a:rPr>
              <a:t>Store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88318" y="2990088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AAAC0"/>
                </a:solidFill>
                <a:latin typeface="Segoe UI"/>
              </a:rPr>
              <a:t>SQLite + Chroma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0247103" y="2670048"/>
            <a:ext cx="100584" cy="146304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352259" y="2057400"/>
            <a:ext cx="1290789" cy="1371600"/>
          </a:xfrm>
          <a:prstGeom prst="roundRect">
            <a:avLst>
              <a:gd name="adj" fmla="val 8000"/>
            </a:avLst>
          </a:prstGeom>
          <a:solidFill>
            <a:srgbClr val="172131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352259" y="2057400"/>
            <a:ext cx="1290789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52259" y="2203704"/>
            <a:ext cx="129078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06B6D4"/>
                </a:solidFill>
                <a:latin typeface="Segoe UI"/>
              </a:rPr>
              <a:t>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88835" y="2660904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7ECF3"/>
                </a:solidFill>
                <a:latin typeface="Segoe UI"/>
              </a:rPr>
              <a:t>Serve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88835" y="2990088"/>
            <a:ext cx="12176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AAAC0"/>
                </a:solidFill>
                <a:latin typeface="Segoe UI"/>
              </a:rPr>
              <a:t>live 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9AAAC0"/>
                </a:solidFill>
                <a:latin typeface="Segoe UI"/>
              </a:rPr>
              <a:t>Engines feeding the Analyze stage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41605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4306824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06B6D4"/>
                </a:solidFill>
                <a:latin typeface="Segoe UI"/>
              </a:rPr>
              <a:t>🧠  RAG Memory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470916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AAAC0"/>
                </a:solidFill>
                <a:latin typeface="Consolas"/>
              </a:rPr>
              <a:t>memory/store.py · retrieve_similar()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83280" y="41605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47872" y="4306824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06B6D4"/>
                </a:solidFill>
                <a:latin typeface="Segoe UI"/>
              </a:rPr>
              <a:t>🗄  Vector DB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47872" y="470916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AAAC0"/>
                </a:solidFill>
                <a:latin typeface="Consolas"/>
              </a:rPr>
              <a:t>Chroma — embeddings of past errors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1605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82512" y="4306824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22C55E"/>
                </a:solidFill>
                <a:latin typeface="Segoe UI"/>
              </a:rPr>
              <a:t>🤖  LLM Engine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82512" y="470916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AAAC0"/>
                </a:solidFill>
                <a:latin typeface="Consolas"/>
              </a:rPr>
              <a:t>LangChain → OpenAI / Ollama / Anthropic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52560" y="41605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1F2C40"/>
          </a:solidFill>
          <a:ln w="12700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17152" y="4306824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A78BFA"/>
                </a:solidFill>
                <a:latin typeface="Segoe UI"/>
              </a:rPr>
              <a:t>⚙  Pipeline Context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17152" y="470916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AAAC0"/>
                </a:solidFill>
                <a:latin typeface="Consolas"/>
              </a:rPr>
              <a:t>config.py + *.toml injected to prompt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1">
                <a:solidFill>
                  <a:srgbClr val="06B6D4"/>
                </a:solidFill>
                <a:latin typeface="Segoe UI"/>
              </a:rPr>
              <a:t>Every analysis is written back to the Vector DB — the system gets smarter with each incident.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9AAAC0"/>
                </a:solidFill>
                <a:latin typeface="Segoe UI"/>
              </a:rPr>
              <a:t>Airflow Log AI Analyzer  ·  Generic LLM + RAG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9AAAC0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1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22C55E"/>
                </a:solidFill>
                <a:latin typeface="Segoe UI"/>
              </a:rPr>
              <a:t>WHAT YOU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132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E7ECF3"/>
                </a:solidFill>
                <a:latin typeface="Segoe UI"/>
              </a:rPr>
              <a:t>Benefits &amp; Value Addition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481328"/>
            <a:ext cx="1280160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Faster MTTR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instant root cause + fix instead of manual log hunting.</a:t>
            </a:r>
          </a:p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Always-on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24/7 autonomous monitoring with no human in the loop.</a:t>
            </a:r>
          </a:p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Consistent &amp; explainable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structured root cause, fix &amp; severity every time.</a:t>
            </a:r>
          </a:p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Institutional memory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every incident improves future answers via RAG.</a:t>
            </a:r>
          </a:p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Full audit trail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searchable history, live dashboard &amp; value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Provider-agnostic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OpenAI, Anthropic, Google, Ollama, Groq, Azure, HF.</a:t>
            </a:r>
          </a:p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Context-aware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tuned to your Airflow version, executor &amp; environment.</a:t>
            </a:r>
          </a:p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Scales effortlessly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handles many DAGs and high log volume.</a:t>
            </a:r>
          </a:p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Low / zero cost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runs locally; optional local LLM via Ollama.</a:t>
            </a:r>
          </a:p>
          <a:p>
            <a:pPr algn="l">
              <a:lnSpc>
                <a:spcPct val="104000"/>
              </a:lnSpc>
              <a:spcAft>
                <a:spcPts val="15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✓  </a:t>
            </a:r>
            <a:r>
              <a:rPr sz="1500" b="1" i="0">
                <a:solidFill>
                  <a:srgbClr val="E7ECF3"/>
                </a:solidFill>
                <a:latin typeface="Segoe UI"/>
              </a:rPr>
              <a:t>Easy to extend — </a:t>
            </a:r>
            <a:r>
              <a:rPr sz="1500" b="0" i="0">
                <a:solidFill>
                  <a:srgbClr val="9AAAC0"/>
                </a:solidFill>
                <a:latin typeface="Segoe UI"/>
              </a:rPr>
              <a:t>config-driven error types, agents &amp; prompts (TOML).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9AAAC0"/>
                </a:solidFill>
                <a:latin typeface="Segoe UI"/>
              </a:rPr>
              <a:t>Airflow Log AI Analyzer  ·  Generic LLM +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9AAAC0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1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Segoe UI"/>
              </a:rPr>
              <a:t>MANUAL MONITORING VS. THIS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7132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E7ECF3"/>
                </a:solidFill>
                <a:latin typeface="Segoe UI"/>
              </a:rPr>
              <a:t>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481328"/>
            <a:ext cx="1280160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83080"/>
          <a:ext cx="11064240" cy="4123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023360"/>
                <a:gridCol w="4389120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marL="109728" marR="73152" marT="18288" marB="18288" anchor="ctr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Manual Monitoring</a:t>
                      </a:r>
                    </a:p>
                  </a:txBody>
                  <a:tcPr marL="109728" marR="73152" marT="18288" marB="18288" anchor="ctr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AI Agent (Automated)</a:t>
                      </a:r>
                    </a:p>
                  </a:txBody>
                  <a:tcPr marL="109728" marR="73152" marT="18288" marB="18288" anchor="ctr">
                    <a:solidFill>
                      <a:srgbClr val="3B82F6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Detection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Reactive — after failure is noticed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Real-time on log creation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Triage speed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Minutes to hours per incident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Seconds, fully automatic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Root-cause analysis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Manual log reading, senior-dependent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LLM + RAG, structured &amp; instant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Consistency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Varies by person &amp; fatigue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Uniform, repeatable output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Memory of past fixes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Tribal knowledge, often lost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Persistent vector + SQLite memory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Coverage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Business hours / on-call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24/7 unattended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Expertise required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High — senior engineers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Low — expertise encoded in agents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Scalability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Poor — human bottleneck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High — scales with compute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Cost over time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Grows with team &amp; incidents</a:t>
                      </a:r>
                    </a:p>
                  </a:txBody>
                  <a:tcPr marL="109728" marR="73152" marT="18288" marB="18288" anchor="ctr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Flat &amp; low; local LLM ≈ zero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7ECF3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9AAAC0"/>
                          </a:solidFill>
                          <a:latin typeface="Segoe UI"/>
                        </a:rPr>
                        <a:t>Ad-hoc notes</a:t>
                      </a:r>
                    </a:p>
                  </a:txBody>
                  <a:tcPr marL="109728" marR="73152" marT="18288" marB="18288" anchor="ctr">
                    <a:solidFill>
                      <a:srgbClr val="1F2C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C55E"/>
                          </a:solidFill>
                          <a:latin typeface="Segoe UI"/>
                        </a:rPr>
                        <a:t>Root cause + fix + severity + audit</a:t>
                      </a:r>
                    </a:p>
                  </a:txBody>
                  <a:tcPr marL="109728" marR="73152" marT="18288" marB="18288" anchor="ctr">
                    <a:solidFill>
                      <a:srgbClr val="122A2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9AAAC0"/>
                </a:solidFill>
                <a:latin typeface="Segoe UI"/>
              </a:rPr>
              <a:t>Airflow Log AI Analyzer  ·  Generic LLM +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9AAAC0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1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E7ECF3"/>
                </a:solidFill>
                <a:latin typeface="Segoe UI"/>
              </a:rPr>
              <a:t>From reactive firefighting to autonomous insight.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6B6D4"/>
                </a:solidFill>
                <a:latin typeface="Segoe UI"/>
              </a:rPr>
              <a:t>Run it in minutes: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E7ECF3"/>
                </a:solidFill>
                <a:latin typeface="Consolas"/>
              </a:rPr>
              <a:t>pip install -r requirements.txt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E7ECF3"/>
                </a:solidFill>
                <a:latin typeface="Consolas"/>
              </a:rPr>
              <a:t>python main.py --simulate --simulate-delay 0.2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2C55E"/>
                </a:solidFill>
                <a:latin typeface="Consolas"/>
              </a:rPr>
              <a:t>→  open http://127.0.0.1:8080  (Dashboard + View Workflow)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9AAAC0"/>
                </a:solidFill>
                <a:latin typeface="Segoe UI"/>
              </a:rPr>
              <a:t>Python · LangChain · Chroma · SQLite · Flask · OpenAI / Ollama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